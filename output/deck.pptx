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54480" y="4114800"/>
            <a:ext cx="4023360" cy="4023360"/>
          </a:xfrm>
          <a:prstGeom prst="ellipse">
            <a:avLst/>
          </a:prstGeom>
          <a:noFill/>
          <a:ln w="279400">
            <a:solidFill>
              <a:srgbClr val="1F3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A33D"/>
                </a:solidFill>
                <a:latin typeface="Tahoma"/>
                <a:cs typeface="Tahoma"/>
              </a:rPr>
              <a:t>پروپوزال محصول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12848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Tahoma"/>
                <a:cs typeface="Tahoma"/>
              </a:rPr>
              <a:t>کاهش ۳۰ درصدی هزینه‌ی انرژی، بدون تغییر در خط تولید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13048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A9BACA"/>
                </a:solidFill>
                <a:latin typeface="Tahoma"/>
                <a:cs typeface="Tahoma"/>
              </a:rPr>
              <a:t>سامانه‌ای که مصرف برق کارخانه را لحظه‌به‌لحظه می‌سنجد، نقطه‌های هدررفت را پیدا می‌کند و خودکار اصلاح می‌کند.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8412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C8A97"/>
                </a:solidFill>
                <a:latin typeface="Tahoma"/>
                <a:cs typeface="Tahoma"/>
              </a:rPr>
              <a:t>تهیه‌کننده: تیم محصول   |   مهر ۱۴۰۴   |   محرمانه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Tahoma"/>
                <a:cs typeface="Tahoma"/>
              </a:rPr>
              <a:t>سرفصل‌ها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Tahoma"/>
                <a:cs typeface="Tahoma"/>
              </a:rPr>
              <a:t>در این ارائه چه می‌بینیم؟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45775" y="1847088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93831" y="2249424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ahoma"/>
                <a:cs typeface="Tahoma"/>
              </a:rPr>
              <a:t>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994227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0B1F33"/>
                </a:solidFill>
                <a:latin typeface="Tahoma"/>
                <a:cs typeface="Tahoma"/>
              </a:rPr>
              <a:t>مسئله: چرا هزینه‌ی انرژی از کنترل خارج می‌شود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752344"/>
            <a:ext cx="9942271" cy="7315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93831" y="2907791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ahoma"/>
                <a:cs typeface="Tahoma"/>
              </a:rPr>
              <a:t>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71215"/>
            <a:ext cx="994227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0B1F33"/>
                </a:solidFill>
                <a:latin typeface="Tahoma"/>
                <a:cs typeface="Tahoma"/>
              </a:rPr>
              <a:t>فرصت: اندازه‌ی بازار و انگیزه‌ی مشتری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410711"/>
            <a:ext cx="9942271" cy="7315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93831" y="356616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ahoma"/>
                <a:cs typeface="Tahoma"/>
              </a:rPr>
              <a:t>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9584"/>
            <a:ext cx="994227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0B1F33"/>
                </a:solidFill>
                <a:latin typeface="Tahoma"/>
                <a:cs typeface="Tahoma"/>
              </a:rPr>
              <a:t>راهکار: سه ستون سامانه‌ی پیشنهادی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69080"/>
            <a:ext cx="9942271" cy="7315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93831" y="422452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ahoma"/>
                <a:cs typeface="Tahoma"/>
              </a:rPr>
              <a:t>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2"/>
            <a:ext cx="994227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0B1F33"/>
                </a:solidFill>
                <a:latin typeface="Tahoma"/>
                <a:cs typeface="Tahoma"/>
              </a:rPr>
              <a:t>شواهد: نتایج پایلوت شش‌ماهه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727448"/>
            <a:ext cx="9942271" cy="7315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93831" y="4882896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ahoma"/>
                <a:cs typeface="Tahoma"/>
              </a:rPr>
              <a:t>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994227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0B1F33"/>
                </a:solidFill>
                <a:latin typeface="Tahoma"/>
                <a:cs typeface="Tahoma"/>
              </a:rPr>
              <a:t>مسیر پیشرو: نقشه‌ی راه ۹۰ روزه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071616"/>
            <a:ext cx="10637215" cy="9144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236208"/>
            <a:ext cx="9174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پروپوزال محصول  |  نسخه ۱.۰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62362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۲ / ۱۲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1F3448"/>
                </a:solidFill>
                <a:latin typeface="Tahoma"/>
                <a:cs typeface="Tahoma"/>
              </a:rPr>
              <a:t>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8961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Tahoma"/>
                <a:cs typeface="Tahoma"/>
              </a:rPr>
              <a:t>مسئله و فرصت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3639312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913632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A9BACA"/>
                </a:solidFill>
                <a:latin typeface="Tahoma"/>
                <a:cs typeface="Tahoma"/>
              </a:rPr>
              <a:t>کجا پول از دست می‌رود و چرا تا حالا کسی آن را ندیده است.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Tahoma"/>
                <a:cs typeface="Tahoma"/>
              </a:rPr>
              <a:t>وضعیت فعلی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Tahoma"/>
                <a:cs typeface="Tahoma"/>
              </a:rPr>
              <a:t>چهار شکاف اصلی در مدیریت مصرف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45775" y="1847088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57984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marL="254000" indent="-25400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sz="1800" b="0" i="0">
                <a:solidFill>
                  <a:srgbClr val="40505F"/>
                </a:solidFill>
                <a:latin typeface="Tahoma"/>
                <a:cs typeface="Tahoma"/>
              </a:rPr>
              <a:t>داده‌ها پراکنده‌اند؛ قبض ماهانه تنها بازخوردی است که تیم فنی می‌بیند.</a:t>
            </a:r>
          </a:p>
          <a:p>
            <a:pPr algn="r" rtl="1" marL="254000" indent="-25400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sz="1800" b="0" i="0">
                <a:solidFill>
                  <a:srgbClr val="40505F"/>
                </a:solidFill>
                <a:latin typeface="Tahoma"/>
                <a:cs typeface="Tahoma"/>
              </a:rPr>
              <a:t>هدررفت در ساعات اوج مصرف شناسایی نمی‌شود و تنها در پایان ماه دیده می‌شود.</a:t>
            </a:r>
          </a:p>
          <a:p>
            <a:pPr algn="r" rtl="1" marL="254000" indent="-25400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sz="1800" b="0" i="0">
                <a:solidFill>
                  <a:srgbClr val="40505F"/>
                </a:solidFill>
                <a:latin typeface="Tahoma"/>
                <a:cs typeface="Tahoma"/>
              </a:rPr>
              <a:t>تنظیم دستی تجهیزات، به تجربه‌ی اپراتور وابسته است و تکرارپذیر نیست.</a:t>
            </a:r>
          </a:p>
          <a:p>
            <a:pPr algn="r" rtl="1" marL="254000" indent="-25400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sz="1800" b="0" i="0">
                <a:solidFill>
                  <a:srgbClr val="40505F"/>
                </a:solidFill>
                <a:latin typeface="Tahoma"/>
                <a:cs typeface="Tahoma"/>
              </a:rPr>
              <a:t>گزارش‌های مدیریتی دستی تهیه می‌شوند و برای تصمیم‌گیری دیر می‌رسند.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73307" y="5742432"/>
            <a:ext cx="41148" cy="42062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760720"/>
            <a:ext cx="103811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Tahoma"/>
                <a:cs typeface="Tahoma"/>
              </a:rPr>
              <a:t>نتیجه: به‌طور میانگین ۲۰ تا ۳۵ درصد ظرفیت صرفه‌جویی بی‌استفاده می‌ماند.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071616"/>
            <a:ext cx="10637215" cy="9144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9174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پروپوزال محصول  |  نسخه ۱.۰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42855" y="62362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۴ / ۱۲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Tahoma"/>
                <a:cs typeface="Tahoma"/>
              </a:rPr>
              <a:t>اندازه‌ی فرصت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Tahoma"/>
                <a:cs typeface="Tahoma"/>
              </a:rPr>
              <a:t>بازاری که آماده‌ی تغییر است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45775" y="1847088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7212" y="2286000"/>
            <a:ext cx="338724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7212" y="2670048"/>
            <a:ext cx="33872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F766E"/>
                </a:solidFill>
                <a:latin typeface="Tahoma"/>
                <a:cs typeface="Tahoma"/>
              </a:rPr>
              <a:t>۱٬۲۰۰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4372" y="3383280"/>
            <a:ext cx="311292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C8A97"/>
                </a:solidFill>
                <a:latin typeface="Tahoma"/>
                <a:cs typeface="Tahoma"/>
              </a:rPr>
              <a:t>کارخانه‌ی هدف در سه استان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2226" y="2286000"/>
            <a:ext cx="338724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2226" y="2670048"/>
            <a:ext cx="33872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F766E"/>
                </a:solidFill>
                <a:latin typeface="Tahoma"/>
                <a:cs typeface="Tahoma"/>
              </a:rPr>
              <a:t>۳۱٪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386" y="3383280"/>
            <a:ext cx="311292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C8A97"/>
                </a:solidFill>
                <a:latin typeface="Tahoma"/>
                <a:cs typeface="Tahoma"/>
              </a:rPr>
              <a:t>میانگین سهم انرژی از بهای تمام‌شده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39" y="2286000"/>
            <a:ext cx="338724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39" y="2670048"/>
            <a:ext cx="33872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F766E"/>
                </a:solidFill>
                <a:latin typeface="Tahoma"/>
                <a:cs typeface="Tahoma"/>
              </a:rPr>
              <a:t>۱۸ ماه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" y="3383280"/>
            <a:ext cx="311292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C8A97"/>
                </a:solidFill>
                <a:latin typeface="Tahoma"/>
                <a:cs typeface="Tahoma"/>
              </a:rPr>
              <a:t>میانگین بازگشت سرمایه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0505F"/>
                </a:solidFill>
                <a:latin typeface="Tahoma"/>
                <a:cs typeface="Tahoma"/>
              </a:rPr>
              <a:t>با رشد سالانه‌ی تعرفه‌ها، هر ماه تأخیر در بهینه‌سازی، حاشیه‌ی سود مشتری را کوچک‌تر می‌کند.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071616"/>
            <a:ext cx="10637215" cy="9144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236208"/>
            <a:ext cx="9174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پروپوزال محصول  |  نسخه ۱.۰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855" y="62362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۵ / ۱۲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1F3448"/>
                </a:solidFill>
                <a:latin typeface="Tahoma"/>
                <a:cs typeface="Tahoma"/>
              </a:rPr>
              <a:t>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8961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Tahoma"/>
                <a:cs typeface="Tahoma"/>
              </a:rPr>
              <a:t>راهکار پیشنهادی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3639312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913632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A9BACA"/>
                </a:solidFill>
                <a:latin typeface="Tahoma"/>
                <a:cs typeface="Tahoma"/>
              </a:rPr>
              <a:t>از اندازه‌گیری تا اصلاح خودکار، در یک حلقه‌ی بسته.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Tahoma"/>
                <a:cs typeface="Tahoma"/>
              </a:rPr>
              <a:t>معماری محصول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Tahoma"/>
                <a:cs typeface="Tahoma"/>
              </a:rPr>
              <a:t>سه ستون سامانه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45775" y="1847088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7212" y="2212848"/>
            <a:ext cx="338724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3559" y="2487168"/>
            <a:ext cx="164592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3244" y="2468880"/>
            <a:ext cx="28386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8A97"/>
                </a:solidFill>
                <a:latin typeface="Tahoma"/>
                <a:cs typeface="Tahoma"/>
              </a:rPr>
              <a:t>۰۱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3244" y="2816352"/>
            <a:ext cx="28751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Tahoma"/>
                <a:cs typeface="Tahoma"/>
              </a:rPr>
              <a:t>سنجش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3244" y="3438144"/>
            <a:ext cx="287517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0505F"/>
                </a:solidFill>
                <a:latin typeface="Tahoma"/>
                <a:cs typeface="Tahoma"/>
              </a:rPr>
              <a:t>نصب ماژول‌های بی‌سیم روی مدارهای اصلی؛ نصب هر واحد کمتر از ۳۰ دقیقه و بدون توقف تولید.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226" y="2212848"/>
            <a:ext cx="338724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8572" y="2487168"/>
            <a:ext cx="164592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8258" y="2468880"/>
            <a:ext cx="28386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8A97"/>
                </a:solidFill>
                <a:latin typeface="Tahoma"/>
                <a:cs typeface="Tahoma"/>
              </a:rPr>
              <a:t>۰۲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2816352"/>
            <a:ext cx="28751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Tahoma"/>
                <a:cs typeface="Tahoma"/>
              </a:rPr>
              <a:t>تحلیل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438144"/>
            <a:ext cx="287517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0505F"/>
                </a:solidFill>
                <a:latin typeface="Tahoma"/>
                <a:cs typeface="Tahoma"/>
              </a:rPr>
              <a:t>موتور تشخیص ناهنجاری، الگوی مصرف هر تجهیز را یاد می‌گیرد و هدررفت را با نشانی دقیق گزارش می‌کند.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39" y="2212848"/>
            <a:ext cx="338724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53586" y="2487168"/>
            <a:ext cx="164592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2468880"/>
            <a:ext cx="28386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8A97"/>
                </a:solidFill>
                <a:latin typeface="Tahoma"/>
                <a:cs typeface="Tahoma"/>
              </a:rPr>
              <a:t>۰۳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2816352"/>
            <a:ext cx="28751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Tahoma"/>
                <a:cs typeface="Tahoma"/>
              </a:rPr>
              <a:t>اصلاح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438144"/>
            <a:ext cx="287517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0505F"/>
                </a:solidFill>
                <a:latin typeface="Tahoma"/>
                <a:cs typeface="Tahoma"/>
              </a:rPr>
              <a:t>پیشنهاد تنظیم بهینه و اجرای خودکار سناریوهای کاهش مصرف در ساعات اوج.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071616"/>
            <a:ext cx="10637215" cy="9144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36208"/>
            <a:ext cx="9174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پروپوزال محصول  |  نسخه ۱.۰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62362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۷ / ۱۲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Tahoma"/>
                <a:cs typeface="Tahoma"/>
              </a:rPr>
              <a:t>تجربه‌ی کاربر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Tahoma"/>
                <a:cs typeface="Tahoma"/>
              </a:rPr>
              <a:t>در عمل چطور کار می‌کند؟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45775" y="1847088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57984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marL="254000" indent="-25400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sz="1700" b="0" i="0">
                <a:solidFill>
                  <a:srgbClr val="40505F"/>
                </a:solidFill>
                <a:latin typeface="Tahoma"/>
                <a:cs typeface="Tahoma"/>
              </a:rPr>
              <a:t>داده‌ها هر ۱۰ ثانیه جمع‌آوری و روی داشبورد واحد نمایش داده می‌شوند.</a:t>
            </a:r>
          </a:p>
          <a:p>
            <a:pPr algn="r" rtl="1" marL="254000" indent="-25400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sz="1700" b="0" i="0">
                <a:solidFill>
                  <a:srgbClr val="40505F"/>
                </a:solidFill>
                <a:latin typeface="Tahoma"/>
                <a:cs typeface="Tahoma"/>
              </a:rPr>
              <a:t>هر ناهنجاری به‌صورت یک رخداد با شدت و هزینه‌ی تخمینی ثبت می‌شود.</a:t>
            </a:r>
          </a:p>
          <a:p>
            <a:pPr algn="r" rtl="1" marL="254000" indent="-25400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sz="1700" b="0" i="0">
                <a:solidFill>
                  <a:srgbClr val="40505F"/>
                </a:solidFill>
                <a:latin typeface="Tahoma"/>
                <a:cs typeface="Tahoma"/>
              </a:rPr>
              <a:t>مدیر انرژی فهرست اقدام‌های پیشنهادی را با اولویت هزینه‌ای می‌بیند.</a:t>
            </a:r>
          </a:p>
          <a:p>
            <a:pPr algn="r" rtl="1" marL="254000" indent="-25400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sz="1700" b="0" i="0">
                <a:solidFill>
                  <a:srgbClr val="40505F"/>
                </a:solidFill>
                <a:latin typeface="Tahoma"/>
                <a:cs typeface="Tahoma"/>
              </a:rPr>
              <a:t>گزارش ماهانه به‌صورت خودکار برای مدیر مالی ارسال می‌شود.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71616"/>
            <a:ext cx="10637215" cy="9144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9174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پروپوزال محصول  |  نسخه ۱.۰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2362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۸ / ۱۲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Tahoma"/>
                <a:cs typeface="Tahoma"/>
              </a:rPr>
              <a:t>شواهد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Tahoma"/>
                <a:cs typeface="Tahoma"/>
              </a:rPr>
              <a:t>نتایج پایلوت شش‌ماهه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45775" y="1847088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7212" y="2286000"/>
            <a:ext cx="338724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7212" y="2670048"/>
            <a:ext cx="33872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F766E"/>
                </a:solidFill>
                <a:latin typeface="Tahoma"/>
                <a:cs typeface="Tahoma"/>
              </a:rPr>
              <a:t>۲۸٪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4372" y="3383280"/>
            <a:ext cx="311292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C8A97"/>
                </a:solidFill>
                <a:latin typeface="Tahoma"/>
                <a:cs typeface="Tahoma"/>
              </a:rPr>
              <a:t>کاهش مصرف در ساعات اوج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2226" y="2286000"/>
            <a:ext cx="338724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2226" y="2670048"/>
            <a:ext cx="33872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F766E"/>
                </a:solidFill>
                <a:latin typeface="Tahoma"/>
                <a:cs typeface="Tahoma"/>
              </a:rPr>
              <a:t>۴٫۱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386" y="3383280"/>
            <a:ext cx="311292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C8A97"/>
                </a:solidFill>
                <a:latin typeface="Tahoma"/>
                <a:cs typeface="Tahoma"/>
              </a:rPr>
              <a:t>ماه تا بازگشت هزینه‌ی نصب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39" y="2286000"/>
            <a:ext cx="338724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39" y="2670048"/>
            <a:ext cx="33872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F766E"/>
                </a:solidFill>
                <a:latin typeface="Tahoma"/>
                <a:cs typeface="Tahoma"/>
              </a:rPr>
              <a:t>۹۴٪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" y="3383280"/>
            <a:ext cx="311292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C8A97"/>
                </a:solidFill>
                <a:latin typeface="Tahoma"/>
                <a:cs typeface="Tahoma"/>
              </a:rPr>
              <a:t>رضایت تیم فنی از داشبورد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0505F"/>
                </a:solidFill>
                <a:latin typeface="Tahoma"/>
                <a:cs typeface="Tahoma"/>
              </a:rPr>
              <a:t>پایلوت روی سه خط تولید انجام شد؛ اعداد نسبت به دوره‌ی مشابه سال قبل محاسبه شده‌اند.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071616"/>
            <a:ext cx="10637215" cy="9144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236208"/>
            <a:ext cx="9174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پروپوزال محصول  |  نسخه ۱.۰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855" y="62362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۹ / ۱۲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1F3448"/>
                </a:solidFill>
                <a:latin typeface="Tahoma"/>
                <a:cs typeface="Tahoma"/>
              </a:rPr>
              <a:t>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8961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Tahoma"/>
                <a:cs typeface="Tahoma"/>
              </a:rPr>
              <a:t>مسیر پیشرو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3639312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913632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A9BACA"/>
                </a:solidFill>
                <a:latin typeface="Tahoma"/>
                <a:cs typeface="Tahoma"/>
              </a:rPr>
              <a:t>از تصمیم امروز تا اولین گزارش صرفه‌جویی.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Tahoma"/>
                <a:cs typeface="Tahoma"/>
              </a:rPr>
              <a:t>نقشه‌ی راه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Tahoma"/>
                <a:cs typeface="Tahoma"/>
              </a:rPr>
              <a:t>۹۰ روز تا اولین نتیجه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45775" y="1847088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7212" y="2212848"/>
            <a:ext cx="338724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3559" y="2487168"/>
            <a:ext cx="164592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3244" y="2468880"/>
            <a:ext cx="28386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8A97"/>
                </a:solidFill>
                <a:latin typeface="Tahoma"/>
                <a:cs typeface="Tahoma"/>
              </a:rPr>
              <a:t>۰۱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3244" y="2816352"/>
            <a:ext cx="28751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Tahoma"/>
                <a:cs typeface="Tahoma"/>
              </a:rPr>
              <a:t>روز ۱ تا ۳۰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3244" y="3438144"/>
            <a:ext cx="287517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0505F"/>
                </a:solidFill>
                <a:latin typeface="Tahoma"/>
                <a:cs typeface="Tahoma"/>
              </a:rPr>
              <a:t>ارزیابی سایت، انتخاب مدارهای نمونه و نصب پایلوت روی یک خط تولید.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226" y="2212848"/>
            <a:ext cx="338724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8572" y="2487168"/>
            <a:ext cx="164592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8258" y="2468880"/>
            <a:ext cx="28386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8A97"/>
                </a:solidFill>
                <a:latin typeface="Tahoma"/>
                <a:cs typeface="Tahoma"/>
              </a:rPr>
              <a:t>۰۲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2816352"/>
            <a:ext cx="28751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Tahoma"/>
                <a:cs typeface="Tahoma"/>
              </a:rPr>
              <a:t>روز ۳۱ تا ۶۰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438144"/>
            <a:ext cx="287517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0505F"/>
                </a:solidFill>
                <a:latin typeface="Tahoma"/>
                <a:cs typeface="Tahoma"/>
              </a:rPr>
              <a:t>کالیبراسیون مدل مصرف و استخراج اولین فهرست اقدام‌های کم‌هزینه.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39" y="2212848"/>
            <a:ext cx="338724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53586" y="2487168"/>
            <a:ext cx="164592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2468880"/>
            <a:ext cx="28386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8A97"/>
                </a:solidFill>
                <a:latin typeface="Tahoma"/>
                <a:cs typeface="Tahoma"/>
              </a:rPr>
              <a:t>۰۳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2816352"/>
            <a:ext cx="28751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Tahoma"/>
                <a:cs typeface="Tahoma"/>
              </a:rPr>
              <a:t>روز ۶۱ تا ۹۰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438144"/>
            <a:ext cx="287517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0505F"/>
                </a:solidFill>
                <a:latin typeface="Tahoma"/>
                <a:cs typeface="Tahoma"/>
              </a:rPr>
              <a:t>گسترش به کل کارخانه، آموزش تیم و تحویل گزارش صرفه‌جویی رسمی.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071616"/>
            <a:ext cx="10637215" cy="9144"/>
          </a:xfrm>
          <a:prstGeom prst="rect">
            <a:avLst/>
          </a:prstGeom>
          <a:solidFill>
            <a:srgbClr val="DB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36208"/>
            <a:ext cx="9174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پروپوزال محصول  |  نسخه ۱.۰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62362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Tahoma"/>
                <a:cs typeface="Tahoma"/>
              </a:rPr>
              <a:t>۱۱ / ۱۲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noFill/>
          <a:ln w="279400">
            <a:solidFill>
              <a:srgbClr val="1F3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Tahoma"/>
                <a:cs typeface="Tahoma"/>
              </a:rPr>
              <a:t>بیایید از یک خط تولید شروع کنیم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3456432"/>
            <a:ext cx="86868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9BACA"/>
                </a:solidFill>
                <a:latin typeface="Tahoma"/>
                <a:cs typeface="Tahoma"/>
              </a:rPr>
              <a:t>پایلوت ۳۰ روزه، بدون هزینه‌ی سخت‌افزار؛ اگر نتیجه نگرفتید، هیچ تعهدی ندارید.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8595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A33D"/>
                </a:solidFill>
                <a:latin typeface="Tahoma"/>
                <a:cs typeface="Tahoma"/>
              </a:rPr>
              <a:t>تیم محصول   |   product@example.com   |   ۰۲۱-۰۰۰۰۰۰۰۰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